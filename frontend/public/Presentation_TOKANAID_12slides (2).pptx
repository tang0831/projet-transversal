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72" r:id="rId11"/>
    <p:sldMasterId id="2147483674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E0C478-2ED3-43E2-8F3F-22563F4846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75BB2C-DA95-4CAF-BD7B-7ED614FA14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2789E83-8E87-4CC2-8670-263FED813E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6BA5AC0-BF14-41B9-A2EA-E33D0B23EC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946314E-7957-4D03-89F4-4285572AAA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4828570-B165-4031-A251-05B6F22200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956415A-AF22-4346-85FB-8AEB9DBF7D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3913F77-6009-4688-869F-530463BAB9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3613C21-124F-485D-84CE-49F6D5CB17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FD10B85-E794-4126-8EF2-7EA8E6DEC7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133832B-1C44-4C91-9DEF-17F7CD61F8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C9BB82B-72AF-40C3-ADB5-68D0C39531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B4506FA-70F2-4B6F-AC38-E431A2ED5E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86B51F1-7FE3-43C4-9917-07AC1B56E4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61DAA8F-06AA-49BA-99B3-36DCC110C5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E02C1D4-5A42-4FC0-A226-1B00FBAD3E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D60F1C3-E900-45AA-BDF2-BEB7222480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Master title </a:t>
            </a: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F9ACAD-5CF1-48EA-AE49-200AB293C6C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A5C38F-D1EE-44E7-A900-19D544E2CA6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429DC1-EC6A-4B47-8E36-58DB0F593E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C57158-76D2-40EC-8FB3-C83E4BCD913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F0C0DF-D1D5-42E3-ADAD-95B9DD03D0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9A1716-4D9F-4E5A-B931-062EE669B25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B98AE4-297D-4368-9718-09441C0992C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FBE175-3228-4E51-ADBE-31DD231464D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C4F3BB-0D22-441E-B85C-D322EA69DDC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2C7352-FB6F-40A8-8964-E9F60B3BB4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BCD775-DB3E-4C08-87BE-10158291D5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0" y="2560320"/>
            <a:ext cx="12191400" cy="7272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5041800" y="1371600"/>
            <a:ext cx="2077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e6fb8"/>
                </a:solidFill>
                <a:uFillTx/>
                <a:latin typeface="Calibri"/>
              </a:rPr>
              <a:t>TOKANAID</a:t>
            </a:r>
            <a:endParaRPr b="0" lang="fr-FR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731520" y="2743200"/>
            <a:ext cx="1069812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uFillTx/>
                <a:latin typeface="Calibri"/>
              </a:rPr>
              <a:t>Système Centralisé de l'Identité Civile Numérique</a:t>
            </a:r>
            <a:endParaRPr b="0" lang="fr-FR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731520" y="3931920"/>
            <a:ext cx="1069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b0d4f1"/>
                </a:solidFill>
                <a:uFillTx/>
                <a:latin typeface="Calibri"/>
              </a:rPr>
              <a:t>Plateforme Nationale pour Madagascar - Horizon 2035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4012200" y="6035040"/>
            <a:ext cx="4136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8aacc"/>
                </a:solidFill>
                <a:uFillTx/>
                <a:latin typeface="Calibri"/>
              </a:rPr>
              <a:t>TANG Aimelie Willia | ESMA - SIO L2 | Année 2025-2026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3593520" y="201240"/>
            <a:ext cx="48823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Le Problème Aujourd'hui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548640" y="1371600"/>
            <a:ext cx="5668920" cy="31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Registres papier vieillissants et facilement endommagés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Perte fréquente des documents d'état civil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Doublons d'identité difficiles à détecter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Recherche manuelle lente et fastidieuse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Trajets multiples pour obtenir un simple acte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Planification publique freinée par des données peu fiables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5" name="Picture 5" descr="5_Hungary_online_access_to_civil_registers.png"/>
          <p:cNvPicPr/>
          <p:nvPr/>
        </p:nvPicPr>
        <p:blipFill>
          <a:blip r:embed="rId1"/>
          <a:stretch/>
        </p:blipFill>
        <p:spPr>
          <a:xfrm>
            <a:off x="6766560" y="1554480"/>
            <a:ext cx="475452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6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3711240" y="201240"/>
            <a:ext cx="4647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La Solution : TOKANAID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360000" y="1980000"/>
            <a:ext cx="5857560" cy="27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Une plateforme unique pour tous les citoyens malgaches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Registres numériques sécurisés et centralisés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Accès rapide aux actes de naissance, mariage et décès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Vérification automatique des doublons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1" name="Picture 5" descr="4_Digital_Identity_Platform_IN_Group.png"/>
          <p:cNvPicPr/>
          <p:nvPr/>
        </p:nvPicPr>
        <p:blipFill>
          <a:blip r:embed="rId1"/>
          <a:stretch/>
        </p:blipFill>
        <p:spPr>
          <a:xfrm>
            <a:off x="6759720" y="1371240"/>
            <a:ext cx="5120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6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3744000" y="201240"/>
            <a:ext cx="4581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Qui Utilise TOKANAID ?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1260000" y="2516040"/>
            <a:ext cx="1832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457200" y="1737360"/>
            <a:ext cx="35658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Rectangle 6"/>
          <p:cNvSpPr/>
          <p:nvPr/>
        </p:nvSpPr>
        <p:spPr>
          <a:xfrm>
            <a:off x="4160520" y="1371600"/>
            <a:ext cx="18000" cy="475452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570600" y="1373400"/>
            <a:ext cx="2309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6fb8"/>
                </a:solidFill>
                <a:uFillTx/>
                <a:latin typeface="Calibri"/>
              </a:rPr>
              <a:t>Officier d'État Civil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594720" y="1980000"/>
            <a:ext cx="3565800" cy="16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Valider les demandes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500" strike="noStrike" u="none">
                <a:solidFill>
                  <a:srgbClr val="333333"/>
                </a:solidFill>
                <a:uFillTx/>
                <a:latin typeface="Calibri"/>
              </a:rPr>
              <a:t>. </a:t>
            </a: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Gestion des utilisateurs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Rectangle 9"/>
          <p:cNvSpPr/>
          <p:nvPr/>
        </p:nvSpPr>
        <p:spPr>
          <a:xfrm>
            <a:off x="7909560" y="1371600"/>
            <a:ext cx="18000" cy="475452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9214200" y="1371600"/>
            <a:ext cx="1047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6fb8"/>
                </a:solidFill>
                <a:uFillTx/>
                <a:latin typeface="Calibri"/>
              </a:rPr>
              <a:t>Citoyen</a:t>
            </a: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8100000" y="1980000"/>
            <a:ext cx="3421080" cy="15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Consulter ses informations personnelles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Demander un extrait d'acte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Suivre l'état de sa demande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333333"/>
                </a:solidFill>
                <a:uFillTx/>
                <a:latin typeface="Calibri"/>
              </a:rPr>
              <a:t>Vérifier ses liens familiaux</a:t>
            </a:r>
            <a:endParaRPr b="0" lang="fr-FR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3841560" y="201240"/>
            <a:ext cx="4386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Technologies Utilisées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548640" y="1371600"/>
            <a:ext cx="5668920" cy="33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Serveur : Python avec FastAPI (rapide et moderne)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Site Web : React.js avec Tailwind CSS (interface fluide)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Base de Données : MySQL (stockage sécurisé et fiable)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Communication : API REST / JSON (échanges sécurisés)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9" name="Picture 5" descr="2_Server_Room_Data_Center_Hosting_Modern.png"/>
          <p:cNvPicPr/>
          <p:nvPr/>
        </p:nvPicPr>
        <p:blipFill>
          <a:blip r:embed="rId1"/>
          <a:stretch/>
        </p:blipFill>
        <p:spPr>
          <a:xfrm>
            <a:off x="6766560" y="1554480"/>
            <a:ext cx="475452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6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2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032360" y="201240"/>
            <a:ext cx="4005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Fonctionnalités Clés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4847400" y="1440000"/>
            <a:ext cx="271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6fb8"/>
                </a:solidFill>
                <a:uFillTx/>
                <a:latin typeface="Calibri"/>
              </a:rPr>
              <a:t>Outils de Recherche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3068640" y="2160000"/>
            <a:ext cx="62913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700" strike="noStrike" u="none">
                <a:solidFill>
                  <a:srgbClr val="333333"/>
                </a:solidFill>
                <a:uFillTx/>
                <a:latin typeface="Calibri"/>
              </a:rPr>
              <a:t>Arbre AVL : Classement rapide des citoyens(inactive)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700" strike="noStrike" u="none">
                <a:solidFill>
                  <a:srgbClr val="333333"/>
                </a:solidFill>
                <a:uFillTx/>
                <a:latin typeface="Calibri"/>
              </a:rPr>
              <a:t>Trie : Auto-complétion des noms de localités(active)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700" strike="noStrike" u="none">
                <a:solidFill>
                  <a:srgbClr val="333333"/>
                </a:solidFill>
                <a:uFillTx/>
                <a:latin typeface="Calibri"/>
              </a:rPr>
              <a:t>Union-Find : Vérification des liens familiaux(inactive)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7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700" strike="noStrike" u="none">
                <a:solidFill>
                  <a:srgbClr val="333333"/>
                </a:solidFill>
                <a:uFillTx/>
                <a:latin typeface="Calibri"/>
              </a:rPr>
              <a:t>Boyer-Moore : Recherche textuelle rapide(inactive)</a:t>
            </a:r>
            <a:endParaRPr b="0" lang="fr-FR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Rectangle 6"/>
          <p:cNvSpPr/>
          <p:nvPr/>
        </p:nvSpPr>
        <p:spPr>
          <a:xfrm>
            <a:off x="5989320" y="1371600"/>
            <a:ext cx="18000" cy="475452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7286400" y="1371600"/>
            <a:ext cx="3165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5989320" y="1620000"/>
            <a:ext cx="530316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fr-FR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3872160" y="201240"/>
            <a:ext cx="4325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Sécurité et Protection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548640" y="1371600"/>
            <a:ext cx="5668920" cy="25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Mots de passe hachés (jamais stockés en clair)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Toutes les actions sont enregistrées et traçables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Données protégées contre les accès non autorisés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Conformité aux standards de protection des données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4" name="Picture 5" descr="6_Secure_shield_with_lock_as_data_protection.png"/>
          <p:cNvPicPr/>
          <p:nvPr/>
        </p:nvPicPr>
        <p:blipFill>
          <a:blip r:embed="rId1"/>
          <a:stretch/>
        </p:blipFill>
        <p:spPr>
          <a:xfrm>
            <a:off x="6766560" y="1645920"/>
            <a:ext cx="475452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6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3588840" y="201240"/>
            <a:ext cx="4891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Avantages de TOKANAID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548640" y="1371600"/>
            <a:ext cx="5668920" cy="25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Gain de temps considérable pour les agents et citoyens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Fin des erreurs de saisie et des doublons d'identité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Données fiables pour la planification des politiques publiques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Réduction des coûts de gestion des registres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0" name="Picture 5" descr="10_UN_Member_States_Endorse_Global_Digital.png"/>
          <p:cNvPicPr/>
          <p:nvPr/>
        </p:nvPicPr>
        <p:blipFill>
          <a:blip r:embed="rId1"/>
          <a:stretch/>
        </p:blipFill>
        <p:spPr>
          <a:xfrm>
            <a:off x="6766560" y="1645920"/>
            <a:ext cx="475452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6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2632320" y="201240"/>
            <a:ext cx="6806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Interface Web - Espace Utilisateurs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548640" y="1371600"/>
            <a:ext cx="5668920" cy="27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Tableau de bord personnalisé selon le rôle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Connexion sécurisée avec vérification d'identité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Gestion des actes et des demandes en temps réel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Génération automatique des documents PDF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Interface moderne et intuitive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6" name="Picture 5" descr="7_411_677_Database_Server_Royalty_Free.png"/>
          <p:cNvPicPr/>
          <p:nvPr/>
        </p:nvPicPr>
        <p:blipFill>
          <a:blip r:embed="rId1"/>
          <a:stretch/>
        </p:blipFill>
        <p:spPr>
          <a:xfrm>
            <a:off x="6766560" y="1645920"/>
            <a:ext cx="475452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Box 6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9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4172400" y="201240"/>
            <a:ext cx="3724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</a:rPr>
              <a:t>Évolutions Futures</a:t>
            </a:r>
            <a:endParaRPr b="0" lang="fr-F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548640" y="1371600"/>
            <a:ext cx="5668920" cy="31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Archivage automatique des anciens registres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Analyse prédictive des tendances démographiques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Mode sombre et accessibilité pour tous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Intégration de la biométrie (empreintes, photo)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Déploiement national à l'horizon 2035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• </a:t>
            </a:r>
            <a:r>
              <a:rPr b="0" lang="en-US" sz="1900" strike="noStrike" u="none">
                <a:solidFill>
                  <a:srgbClr val="333333"/>
                </a:solidFill>
                <a:uFillTx/>
                <a:latin typeface="Calibri"/>
              </a:rPr>
              <a:t>Interconnexion avec autres services publics</a:t>
            </a:r>
            <a:endParaRPr b="0" lang="fr-FR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2" name="Picture 5" descr="3_12_Best_Family_Tree_Software_Tools.png"/>
          <p:cNvPicPr/>
          <p:nvPr/>
        </p:nvPicPr>
        <p:blipFill>
          <a:blip r:embed="rId1"/>
          <a:stretch/>
        </p:blipFill>
        <p:spPr>
          <a:xfrm>
            <a:off x="6766560" y="1645920"/>
            <a:ext cx="475452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6"/>
          <p:cNvSpPr/>
          <p:nvPr/>
        </p:nvSpPr>
        <p:spPr>
          <a:xfrm>
            <a:off x="3611520" y="6446520"/>
            <a:ext cx="466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888888"/>
                </a:solidFill>
                <a:uFillTx/>
                <a:latin typeface="Calibri"/>
              </a:rPr>
              <a:t>TOKANAID - Système Centralisé de l'Identité Civile Numérique | Vision 2035</a:t>
            </a:r>
            <a:endParaRPr b="0" lang="fr-FR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3b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0" y="2560320"/>
            <a:ext cx="12191400" cy="72720"/>
          </a:xfrm>
          <a:prstGeom prst="rect">
            <a:avLst/>
          </a:prstGeom>
          <a:solidFill>
            <a:srgbClr val="1e6f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5041800" y="1371600"/>
            <a:ext cx="2077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e6fb8"/>
                </a:solidFill>
                <a:uFillTx/>
                <a:latin typeface="Calibri"/>
              </a:rPr>
              <a:t>TOKANAID</a:t>
            </a:r>
            <a:endParaRPr b="0" lang="fr-FR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731520" y="2743200"/>
            <a:ext cx="106981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uFillTx/>
                <a:latin typeface="Calibri"/>
              </a:rPr>
              <a:t>Merci pour votre attention</a:t>
            </a:r>
            <a:endParaRPr b="0" lang="fr-FR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731520" y="3931920"/>
            <a:ext cx="1069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b0d4f1"/>
                </a:solidFill>
                <a:uFillTx/>
                <a:latin typeface="Calibri"/>
              </a:rPr>
              <a:t>Des questions ?</a:t>
            </a:r>
            <a:endParaRPr b="0" lang="fr-F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4012200" y="6035040"/>
            <a:ext cx="4136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88aacc"/>
                </a:solidFill>
                <a:uFillTx/>
                <a:latin typeface="Calibri"/>
              </a:rPr>
              <a:t>TANG Aimelie Willia | ESMA - SIO L2 | Année 2025-2026</a:t>
            </a:r>
            <a:endParaRPr b="0" lang="fr-F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LibreOffice/24.8.7.2$Linux_X86_64 LibreOffice_project/480$Build-2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2026-06-04T13:36:39Z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